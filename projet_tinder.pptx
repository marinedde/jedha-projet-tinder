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E8174A">
              <a:alpha val="15000"/>
            </a:srgbClr>
          </a:solidFill>
          <a:ln w="12700">
            <a:solidFill>
              <a:srgbClr val="E817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 TINDER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qui fait matcher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gens 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données de speed dating — Columbia Business School (2002–2004)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920240" cy="868680"/>
          </a:xfrm>
          <a:prstGeom prst="rect">
            <a:avLst/>
          </a:prstGeom>
          <a:solidFill>
            <a:srgbClr val="2A2A3E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8 378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931920"/>
            <a:ext cx="1920240" cy="868680"/>
          </a:xfrm>
          <a:prstGeom prst="rect">
            <a:avLst/>
          </a:prstGeom>
          <a:solidFill>
            <a:srgbClr val="2A2A3E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931920"/>
            <a:ext cx="1920240" cy="868680"/>
          </a:xfrm>
          <a:prstGeom prst="rect">
            <a:avLst/>
          </a:prstGeom>
          <a:solidFill>
            <a:srgbClr val="2A2A3E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match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931920"/>
            <a:ext cx="1920240" cy="868680"/>
          </a:xfrm>
          <a:prstGeom prst="rect">
            <a:avLst/>
          </a:prstGeom>
          <a:solidFill>
            <a:srgbClr val="2A2A3E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RDV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201168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L'expérience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speed dating organisées entre 2002–2004 à Columbia. Chaque participant rencontre tous les participants de sexe opposé pendant 4 minutes.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743200" cy="201168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données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8 378 mini-rencontres. Chaque ligne = 1 RDV avec évaluations mutuelles, décision secrète de se revoir, et profil du participant.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743200" cy="201168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L'objectif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 qui incite les gens à accepter un 2e rendez-vous — pour aider Tinder à comprendre les mécanismes d'attraction.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critères évalués (0–10)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Attractivité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4864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Sincérité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4864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Intelligence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50657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Humour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50657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Ambition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50657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Intérêts communs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TAUX DE MATCH &amp; DÉCISIONS PAR GENRE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143000"/>
            <a:ext cx="2194560" cy="2194560"/>
          </a:xfrm>
          <a:prstGeom prst="ellipse">
            <a:avLst/>
          </a:prstGeom>
          <a:solidFill>
            <a:srgbClr val="E8174A">
              <a:alpha val="85000"/>
            </a:srgbClr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554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global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560320" cy="2011680"/>
          </a:xfrm>
          <a:prstGeom prst="rect">
            <a:avLst/>
          </a:prstGeom>
          <a:solidFill>
            <a:srgbClr val="2A2A3E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A9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47.4%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 'oui'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234440"/>
            <a:ext cx="2560320" cy="2011680"/>
          </a:xfrm>
          <a:prstGeom prst="rect">
            <a:avLst/>
          </a:prstGeom>
          <a:solidFill>
            <a:srgbClr val="2A2A3E"/>
          </a:solidFill>
          <a:ln w="25400">
            <a:solidFill>
              <a:srgbClr val="FF6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6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 'oui'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 clé 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match exige que les DEUX personnes disent 'oui' simultanément. Les hommes acceptent 10 points de plus que les femmes → la sélectivité féminine est le principal filtre du match.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QUELS CRITÈRES FONT VRAIMENT LA DIFFÉRENCE 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197864"/>
            <a:ext cx="4690872" cy="256032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08392" y="1143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36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4453128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0648" y="1636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185416"/>
            <a:ext cx="3785616" cy="2560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21305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24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679192"/>
            <a:ext cx="3666744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26243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118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172968"/>
            <a:ext cx="1984248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1181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0.217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666744"/>
            <a:ext cx="1920240" cy="25603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11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1056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4160520"/>
            <a:ext cx="1682496" cy="256032"/>
          </a:xfrm>
          <a:prstGeom prst="rect">
            <a:avLst/>
          </a:prstGeom>
          <a:solidFill>
            <a:srgbClr val="B0A8B0"/>
          </a:solidFill>
          <a:ln w="12700">
            <a:solidFill>
              <a:srgbClr val="B0A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41056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0.184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228600" cy="22860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(&gt;0.35)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4617720"/>
            <a:ext cx="228600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 (0.18–0.25)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 Pearson avec la décision d'accepter un 2e RDV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HOMMES VS FEMMES — CE QUI LES ATTIRE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1920240"/>
                <a:gridCol w="201168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Femmes 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Hommes 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valorise +?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Attractivité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0.515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Hommes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Intérêts communs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Sincérité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0.191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Hommes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2A2A3E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L'attractivité est le seul critère où l'écart H/F est vraiment significatif (+7 pts pour les hommes)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DIT VOULOIR VS CE QUI COMPTE VRAIMENT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(r)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08760" y="1892808"/>
            <a:ext cx="994867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9347" y="1874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1892808"/>
            <a:ext cx="1027453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3533" y="1874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2322576"/>
            <a:ext cx="599846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4326" y="23042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2322576"/>
            <a:ext cx="381055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7135" y="23042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660904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34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2752344"/>
            <a:ext cx="709574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4054" y="27340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2752344"/>
            <a:ext cx="432927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9007" y="27340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9067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63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08760" y="3182112"/>
            <a:ext cx="643738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8218" y="31638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3182112"/>
            <a:ext cx="811987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8067" y="31638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593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08760" y="3611880"/>
            <a:ext cx="321869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6349" y="3593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3611880"/>
            <a:ext cx="438912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593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9502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023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508760" y="4041648"/>
            <a:ext cx="402336" cy="201168"/>
          </a:xfrm>
          <a:prstGeom prst="rect">
            <a:avLst/>
          </a:prstGeom>
          <a:solidFill>
            <a:srgbClr val="4A90E2">
              <a:alpha val="70000"/>
            </a:srgbClr>
          </a:solidFill>
          <a:ln w="12700">
            <a:solidFill>
              <a:srgbClr val="4A90E2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6816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80360" y="4041648"/>
            <a:ext cx="772086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98166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1115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FEMMES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84632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932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(r)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1801368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89320" y="1892808"/>
            <a:ext cx="658368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93408" y="1874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360920" y="1892808"/>
            <a:ext cx="887799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94439" y="1874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223113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89320" y="2322576"/>
            <a:ext cx="665683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00723" y="23042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60920" y="2322576"/>
            <a:ext cx="442902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49542" y="23042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2660904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2734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989320" y="2752344"/>
            <a:ext cx="768096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03136" y="27340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360920" y="2752344"/>
            <a:ext cx="464848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71488" y="27340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54880" y="309067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3163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989320" y="3182112"/>
            <a:ext cx="632765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67805" y="31638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60920" y="3182112"/>
            <a:ext cx="831938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38578" y="31638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54880" y="3520440"/>
            <a:ext cx="41148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3593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989320" y="3611880"/>
            <a:ext cx="468173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03213" y="3593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360920" y="3611880"/>
            <a:ext cx="349135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55775" y="3593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54880" y="39502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64608" y="4023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989320" y="4041648"/>
            <a:ext cx="464515" cy="201168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9555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60920" y="4041648"/>
            <a:ext cx="823958" cy="201168"/>
          </a:xfrm>
          <a:prstGeom prst="rect">
            <a:avLst/>
          </a:prstGeom>
          <a:solidFill>
            <a:srgbClr val="E8174A">
              <a:alpha val="80000"/>
            </a:srgbClr>
          </a:solidFill>
          <a:ln w="12700">
            <a:solidFill>
              <a:srgbClr val="E8174A">
                <a:alpha val="8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30598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 intérêts communs sont sous-estimés dans les déclarations (11–13%) mais ont un impact réel élevé (r ≈ 0.40)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BIAIS &amp; EFFETS CONTEXTUELS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Surestimation de soi — Tout le monde se surestime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08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7.7 | reçu: 6.4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508760"/>
            <a:ext cx="1508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810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+1.11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8.29 | reçu: 7.18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508760"/>
            <a:ext cx="1508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810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23317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8.39 | reçu: 7.37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1508760"/>
            <a:ext cx="1508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1810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+0.90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40680" y="23317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7.09 | reçu: 6.19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508760"/>
            <a:ext cx="1508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1810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+0.80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32320" y="23317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7.58 | reçu: 6.78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8412480" cy="0"/>
          </a:xfrm>
          <a:prstGeom prst="line">
            <a:avLst/>
          </a:prstGeom>
          <a:noFill/>
          <a:ln w="12700">
            <a:solidFill>
              <a:srgbClr val="33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54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Effet de l'ordre — Mieux vaut être un RDV tôt dans la soirée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5760" y="3584448"/>
            <a:ext cx="1920240" cy="1234440"/>
          </a:xfrm>
          <a:prstGeom prst="rect">
            <a:avLst/>
          </a:prstGeom>
          <a:solidFill>
            <a:srgbClr val="2A2A3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1–5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584448"/>
            <a:ext cx="1920240" cy="1234440"/>
          </a:xfrm>
          <a:prstGeom prst="rect">
            <a:avLst/>
          </a:prstGeom>
          <a:solidFill>
            <a:srgbClr val="2A2A3E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6–10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886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468880" y="4480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584448"/>
            <a:ext cx="1920240" cy="1234440"/>
          </a:xfrm>
          <a:prstGeom prst="rect">
            <a:avLst/>
          </a:prstGeom>
          <a:solidFill>
            <a:srgbClr val="2A2A3E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11–15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3886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14.4%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572000" y="4480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match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584448"/>
            <a:ext cx="1920240" cy="1234440"/>
          </a:xfrm>
          <a:prstGeom prst="rect">
            <a:avLst/>
          </a:prstGeom>
          <a:solidFill>
            <a:srgbClr val="2A2A3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16+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886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14.7%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675120" y="4480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— CE QUI FAIT MATCHER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" cy="100584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99032"/>
            <a:ext cx="384048" cy="384048"/>
          </a:xfrm>
          <a:prstGeom prst="ellipse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ressenti immédiat domine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819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(r=0.49) + appréciation globale (r=0.51) sont les meilleurs prédicteurs. En 4 min, c'est le feeling qui prime.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4203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359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L'humour fait la différence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249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quasi-égal H/F (~0.41). C'est aussi celui avec le plus grand écart entre matchs et non-matchs (+1.44 pts).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73152" cy="100584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685032"/>
            <a:ext cx="384048" cy="38404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02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intérêts communs sont sous-estimés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8679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Déclarés à seulement 11–13% d'importance, mais corrélation réelle ~0.40 — plus forte que sincérité et intelligence.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43000"/>
            <a:ext cx="73152" cy="10058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1216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le monde se surestime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5819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sur l'humour (+1.30) et la sincérité (+1.11) → biais de désirabilité sociale bien documenté.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86000"/>
            <a:ext cx="73152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42032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359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L'origine raciale ne prédit pas le match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7249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r=0.013. Ce qui se passe pendant 4 minutes compte infiniment plus que le profil démographique.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174A"/>
          </a:solidFill>
          <a:ln w="12700">
            <a:solidFill>
              <a:srgbClr val="E81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 POUR TINDER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60020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Valoriser les profils visuels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L'attractivité est le 1er facteur. Encourager des photos de qualité et des profils complets avec une bonne photo principale.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160020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3075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Mettre en avant l'humour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7373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prompts orientés humour dans les profils (ex : 'Ma blague préférée', 'Mon film le plus nul assumé').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Améliorer l'algorithme d'intérêts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20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sont sous-estimés par les utilisateurs mais prédisent bien le match — les pondérer davantage dans le matching.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'live' et speed dating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Live pourrait reproduire l'effet speed dating : le feeling en 4 min est plus prédictif que le profil statique.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8174A">
              <a:alpha val="15000"/>
            </a:srgbClr>
          </a:solidFill>
          <a:ln w="12700">
            <a:solidFill>
              <a:srgbClr val="E817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E8174A">
              <a:alpha val="10000"/>
            </a:srgbClr>
          </a:solidFill>
          <a:ln w="12700">
            <a:solidFill>
              <a:srgbClr val="E8174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🔥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Jedha — Bloc de certification n°2  |  Speed Dating Dataset — Columbia Business School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Tinder — Speed Dating Analysis</dc:title>
  <dc:subject>PptxGenJS Presentation</dc:subject>
  <dc:creator>PptxGenJS</dc:creator>
  <cp:lastModifiedBy>PptxGenJS</cp:lastModifiedBy>
  <cp:revision>1</cp:revision>
  <dcterms:created xsi:type="dcterms:W3CDTF">2026-02-24T02:31:25Z</dcterms:created>
  <dcterms:modified xsi:type="dcterms:W3CDTF">2026-02-24T02:31:25Z</dcterms:modified>
</cp:coreProperties>
</file>